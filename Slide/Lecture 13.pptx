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1478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1478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11478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9258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16148" y="461899"/>
            <a:ext cx="271170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11478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9589" y="1458213"/>
            <a:ext cx="8084820" cy="4293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4920" y="2043760"/>
            <a:ext cx="507428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b="1" spc="-20" dirty="0">
                <a:solidFill>
                  <a:srgbClr val="C0504D"/>
                </a:solidFill>
                <a:latin typeface="Calibri"/>
                <a:cs typeface="Calibri"/>
              </a:rPr>
              <a:t>POINTERS</a:t>
            </a:r>
            <a:endParaRPr sz="9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8008" y="461899"/>
            <a:ext cx="4426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>
                <a:solidFill>
                  <a:srgbClr val="000000"/>
                </a:solidFill>
              </a:rPr>
              <a:t>Pointer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within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6754"/>
            <a:ext cx="1468755" cy="2204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Calibri"/>
                <a:cs typeface="Calibri"/>
              </a:rPr>
              <a:t>#include&lt;iostream&gt; 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using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namespace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std; </a:t>
            </a:r>
            <a:r>
              <a:rPr sz="1300" spc="-28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class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5" dirty="0">
                <a:latin typeface="Calibri"/>
                <a:cs typeface="Calibri"/>
              </a:rPr>
              <a:t>Array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 dirty="0">
              <a:latin typeface="Calibri"/>
              <a:cs typeface="Calibri"/>
            </a:endParaRPr>
          </a:p>
          <a:p>
            <a:pPr marL="12700" marR="909319" algn="just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i</a:t>
            </a:r>
            <a:r>
              <a:rPr sz="1300" spc="-15" dirty="0">
                <a:latin typeface="Calibri"/>
                <a:cs typeface="Calibri"/>
              </a:rPr>
              <a:t>n</a:t>
            </a:r>
            <a:r>
              <a:rPr sz="1300" spc="-5" dirty="0">
                <a:latin typeface="Calibri"/>
                <a:cs typeface="Calibri"/>
              </a:rPr>
              <a:t>t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*ar</a:t>
            </a:r>
            <a:r>
              <a:rPr sz="1300" dirty="0">
                <a:latin typeface="Calibri"/>
                <a:cs typeface="Calibri"/>
              </a:rPr>
              <a:t>r</a:t>
            </a:r>
            <a:r>
              <a:rPr sz="1300" spc="-5" dirty="0">
                <a:latin typeface="Calibri"/>
                <a:cs typeface="Calibri"/>
              </a:rPr>
              <a:t>;  int </a:t>
            </a:r>
            <a:r>
              <a:rPr sz="1300" spc="-10" dirty="0">
                <a:latin typeface="Calibri"/>
                <a:cs typeface="Calibri"/>
              </a:rPr>
              <a:t>size; </a:t>
            </a:r>
            <a:r>
              <a:rPr sz="1300" spc="-28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public: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void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get_data(int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n)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size=n;</a:t>
            </a:r>
            <a:endParaRPr sz="1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arr=new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int[size];</a:t>
            </a:r>
            <a:endParaRPr sz="13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386454"/>
            <a:ext cx="2513965" cy="319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latin typeface="Calibri"/>
                <a:cs typeface="Calibri"/>
              </a:rPr>
              <a:t>cout&lt;&lt;"\nEnter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elements:";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for(int </a:t>
            </a:r>
            <a:r>
              <a:rPr sz="1300" spc="-5" dirty="0">
                <a:latin typeface="Calibri"/>
                <a:cs typeface="Calibri"/>
              </a:rPr>
              <a:t>i=0;i&lt;size;i++)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cin&gt;&gt;*(arr+i);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void </a:t>
            </a:r>
            <a:r>
              <a:rPr sz="1300" spc="-5" dirty="0">
                <a:latin typeface="Calibri"/>
                <a:cs typeface="Calibri"/>
              </a:rPr>
              <a:t>add()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int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sum=0;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for(int </a:t>
            </a:r>
            <a:r>
              <a:rPr sz="1300" spc="-5" dirty="0">
                <a:latin typeface="Calibri"/>
                <a:cs typeface="Calibri"/>
              </a:rPr>
              <a:t>i=0;i&lt;size;i++)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sum+=*(arr+i);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cout&lt;&lt;"\n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Sum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of elements="&lt;&lt;sum;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};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575" y="1587754"/>
            <a:ext cx="3388360" cy="1808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Calibri"/>
                <a:cs typeface="Calibri"/>
              </a:rPr>
              <a:t>int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main()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5" dirty="0">
                <a:latin typeface="Calibri"/>
                <a:cs typeface="Calibri"/>
              </a:rPr>
              <a:t>Array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int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n;</a:t>
            </a:r>
            <a:endParaRPr sz="13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cout&lt;&lt;"\n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Enter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the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number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of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elements:"&lt;&lt;endl; </a:t>
            </a:r>
            <a:r>
              <a:rPr sz="1300" spc="-28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cin&gt;&gt;n;</a:t>
            </a:r>
            <a:endParaRPr sz="1300">
              <a:latin typeface="Calibri"/>
              <a:cs typeface="Calibri"/>
            </a:endParaRPr>
          </a:p>
          <a:p>
            <a:pPr marL="12700" marR="242189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a</a:t>
            </a:r>
            <a:r>
              <a:rPr sz="1300" spc="5" dirty="0">
                <a:latin typeface="Calibri"/>
                <a:cs typeface="Calibri"/>
              </a:rPr>
              <a:t>.</a:t>
            </a:r>
            <a:r>
              <a:rPr sz="1300" spc="-15" dirty="0">
                <a:latin typeface="Calibri"/>
                <a:cs typeface="Calibri"/>
              </a:rPr>
              <a:t>ge</a:t>
            </a:r>
            <a:r>
              <a:rPr sz="1300" spc="-5" dirty="0">
                <a:latin typeface="Calibri"/>
                <a:cs typeface="Calibri"/>
              </a:rPr>
              <a:t>t_d</a:t>
            </a:r>
            <a:r>
              <a:rPr sz="1300" spc="-15" dirty="0">
                <a:latin typeface="Calibri"/>
                <a:cs typeface="Calibri"/>
              </a:rPr>
              <a:t>a</a:t>
            </a:r>
            <a:r>
              <a:rPr sz="1300" spc="-20" dirty="0">
                <a:latin typeface="Calibri"/>
                <a:cs typeface="Calibri"/>
              </a:rPr>
              <a:t>t</a:t>
            </a:r>
            <a:r>
              <a:rPr sz="1300" dirty="0">
                <a:latin typeface="Calibri"/>
                <a:cs typeface="Calibri"/>
              </a:rPr>
              <a:t>a</a:t>
            </a:r>
            <a:r>
              <a:rPr sz="1300" spc="-5" dirty="0">
                <a:latin typeface="Calibri"/>
                <a:cs typeface="Calibri"/>
              </a:rPr>
              <a:t>(n);  a.add(); 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return</a:t>
            </a:r>
            <a:r>
              <a:rPr sz="1300" spc="-5" dirty="0">
                <a:latin typeface="Calibri"/>
                <a:cs typeface="Calibri"/>
              </a:rPr>
              <a:t> 0;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7575" y="3371215"/>
            <a:ext cx="774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Calibri"/>
                <a:cs typeface="Calibri"/>
              </a:rPr>
              <a:t>}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0408" y="461899"/>
            <a:ext cx="41255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>
                <a:solidFill>
                  <a:srgbClr val="000000"/>
                </a:solidFill>
              </a:rPr>
              <a:t>Pointer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to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9509"/>
            <a:ext cx="7927975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C++</a:t>
            </a:r>
            <a:r>
              <a:rPr sz="2000" dirty="0">
                <a:latin typeface="Calibri"/>
                <a:cs typeface="Calibri"/>
              </a:rPr>
              <a:t> class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exactly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same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way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pointer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a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structure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members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pointer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class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 </a:t>
            </a:r>
            <a:r>
              <a:rPr sz="2000" spc="5" dirty="0">
                <a:latin typeface="Calibri"/>
                <a:cs typeface="Calibri"/>
              </a:rPr>
              <a:t>the 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member access </a:t>
            </a:r>
            <a:r>
              <a:rPr sz="2000" spc="-10" dirty="0">
                <a:latin typeface="Calibri"/>
                <a:cs typeface="Calibri"/>
              </a:rPr>
              <a:t>operator </a:t>
            </a:r>
            <a:r>
              <a:rPr sz="2000" b="1" dirty="0">
                <a:latin typeface="Calibri"/>
                <a:cs typeface="Calibri"/>
              </a:rPr>
              <a:t>-&gt; </a:t>
            </a:r>
            <a:r>
              <a:rPr sz="2000" spc="-30" dirty="0">
                <a:latin typeface="Calibri"/>
                <a:cs typeface="Calibri"/>
              </a:rPr>
              <a:t>operator, </a:t>
            </a:r>
            <a:r>
              <a:rPr sz="2000" spc="-10" dirty="0">
                <a:latin typeface="Calibri"/>
                <a:cs typeface="Calibri"/>
              </a:rPr>
              <a:t>just </a:t>
            </a:r>
            <a:r>
              <a:rPr sz="2000" dirty="0">
                <a:latin typeface="Calibri"/>
                <a:cs typeface="Calibri"/>
              </a:rPr>
              <a:t>as </a:t>
            </a:r>
            <a:r>
              <a:rPr sz="2000" spc="-10" dirty="0">
                <a:latin typeface="Calibri"/>
                <a:cs typeface="Calibri"/>
              </a:rPr>
              <a:t>you </a:t>
            </a:r>
            <a:r>
              <a:rPr sz="2000" dirty="0">
                <a:latin typeface="Calibri"/>
                <a:cs typeface="Calibri"/>
              </a:rPr>
              <a:t>do with </a:t>
            </a:r>
            <a:r>
              <a:rPr sz="2000" spc="-15" dirty="0">
                <a:latin typeface="Calibri"/>
                <a:cs typeface="Calibri"/>
              </a:rPr>
              <a:t>pointers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 structures.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 as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10" dirty="0">
                <a:latin typeface="Calibri"/>
                <a:cs typeface="Calibri"/>
              </a:rPr>
              <a:t> pointers,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 </a:t>
            </a:r>
            <a:r>
              <a:rPr sz="2000" spc="-5" dirty="0">
                <a:latin typeface="Calibri"/>
                <a:cs typeface="Calibri"/>
              </a:rPr>
              <a:t>must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initialize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pointer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before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using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926" y="461899"/>
            <a:ext cx="1945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000000"/>
                </a:solidFill>
              </a:rPr>
              <a:t>E</a:t>
            </a:r>
            <a:r>
              <a:rPr spc="-85"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000000"/>
                </a:solidFill>
              </a:rPr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6754"/>
            <a:ext cx="2659380" cy="5177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95705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latin typeface="Calibri"/>
                <a:cs typeface="Calibri"/>
              </a:rPr>
              <a:t>#include&lt;iostream&gt; </a:t>
            </a:r>
            <a:r>
              <a:rPr sz="130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using</a:t>
            </a:r>
            <a:r>
              <a:rPr sz="1300" spc="-2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namespace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std; </a:t>
            </a:r>
            <a:r>
              <a:rPr sz="1300" spc="-28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class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A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int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x;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public: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void getdata()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>
              <a:latin typeface="Calibri"/>
              <a:cs typeface="Calibri"/>
            </a:endParaRPr>
          </a:p>
          <a:p>
            <a:pPr marL="12700" marR="20955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cout&lt;&lt;"\n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Enter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value</a:t>
            </a:r>
            <a:r>
              <a:rPr sz="1300" spc="25" dirty="0">
                <a:latin typeface="Calibri"/>
                <a:cs typeface="Calibri"/>
              </a:rPr>
              <a:t> </a:t>
            </a:r>
            <a:r>
              <a:rPr sz="1300" spc="-15" dirty="0">
                <a:latin typeface="Calibri"/>
                <a:cs typeface="Calibri"/>
              </a:rPr>
              <a:t>for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x:"&lt;&lt;endl; </a:t>
            </a:r>
            <a:r>
              <a:rPr sz="1300" spc="-27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cin&gt;&gt;x;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void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showdata()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latin typeface="Calibri"/>
                <a:cs typeface="Calibri"/>
              </a:rPr>
              <a:t>cout&lt;&lt;"\n</a:t>
            </a:r>
            <a:r>
              <a:rPr sz="1300" spc="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Entered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value</a:t>
            </a:r>
            <a:r>
              <a:rPr sz="1300" spc="3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is:"&lt;&lt;x&lt;&lt;endl;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int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main()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{</a:t>
            </a:r>
            <a:endParaRPr sz="1300">
              <a:latin typeface="Calibri"/>
              <a:cs typeface="Calibri"/>
            </a:endParaRPr>
          </a:p>
          <a:p>
            <a:pPr marL="12700" marR="216535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A </a:t>
            </a:r>
            <a:r>
              <a:rPr sz="1300" spc="-10" dirty="0">
                <a:latin typeface="Calibri"/>
                <a:cs typeface="Calibri"/>
              </a:rPr>
              <a:t>o</a:t>
            </a:r>
            <a:r>
              <a:rPr sz="1300" spc="-5" dirty="0">
                <a:latin typeface="Calibri"/>
                <a:cs typeface="Calibri"/>
              </a:rPr>
              <a:t>b</a:t>
            </a:r>
            <a:r>
              <a:rPr sz="1300" spc="-10" dirty="0">
                <a:latin typeface="Calibri"/>
                <a:cs typeface="Calibri"/>
              </a:rPr>
              <a:t>j</a:t>
            </a:r>
            <a:r>
              <a:rPr sz="1300" spc="-5" dirty="0">
                <a:latin typeface="Calibri"/>
                <a:cs typeface="Calibri"/>
              </a:rPr>
              <a:t>1;  A</a:t>
            </a:r>
            <a:r>
              <a:rPr sz="1300" spc="-6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*ptr;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ptr=&amp;obj1;//Pointer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spc="-15" dirty="0">
                <a:latin typeface="Calibri"/>
                <a:cs typeface="Calibri"/>
              </a:rPr>
              <a:t>to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5" dirty="0">
                <a:latin typeface="Calibri"/>
                <a:cs typeface="Calibri"/>
              </a:rPr>
              <a:t>object</a:t>
            </a:r>
            <a:endParaRPr sz="1300">
              <a:latin typeface="Calibri"/>
              <a:cs typeface="Calibri"/>
            </a:endParaRPr>
          </a:p>
          <a:p>
            <a:pPr marL="12700" marR="1510665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ptr-&gt;getdata(); 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ptr-&gt;showdata(); </a:t>
            </a:r>
            <a:r>
              <a:rPr sz="1300" spc="-28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(*ptr).getdata();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alibri"/>
                <a:cs typeface="Calibri"/>
              </a:rPr>
              <a:t>(*ptr).showdata();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300" spc="-5" dirty="0">
                <a:latin typeface="Calibri"/>
                <a:cs typeface="Calibri"/>
              </a:rPr>
              <a:t>}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0369" y="431672"/>
            <a:ext cx="4791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>
                <a:solidFill>
                  <a:srgbClr val="000000"/>
                </a:solidFill>
              </a:rPr>
              <a:t>Pointers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to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Members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85061"/>
            <a:ext cx="7682230" cy="236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57834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It is </a:t>
            </a:r>
            <a:r>
              <a:rPr sz="2400" spc="-5" dirty="0">
                <a:latin typeface="Calibri"/>
                <a:cs typeface="Calibri"/>
              </a:rPr>
              <a:t>possible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5" dirty="0">
                <a:latin typeface="Calibri"/>
                <a:cs typeface="Calibri"/>
              </a:rPr>
              <a:t>take </a:t>
            </a:r>
            <a:r>
              <a:rPr sz="2400" spc="-5" dirty="0">
                <a:latin typeface="Calibri"/>
                <a:cs typeface="Calibri"/>
              </a:rPr>
              <a:t>address of </a:t>
            </a:r>
            <a:r>
              <a:rPr sz="2400" dirty="0">
                <a:latin typeface="Calibri"/>
                <a:cs typeface="Calibri"/>
              </a:rPr>
              <a:t>a member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class and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pointer.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address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obtained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applying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spc="-15" dirty="0">
                <a:latin typeface="Calibri"/>
                <a:cs typeface="Calibri"/>
              </a:rPr>
              <a:t>operator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“fully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qualified</a:t>
            </a:r>
            <a:r>
              <a:rPr sz="2400" dirty="0">
                <a:latin typeface="Calibri"/>
                <a:cs typeface="Calibri"/>
              </a:rPr>
              <a:t> “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 </a:t>
            </a:r>
            <a:r>
              <a:rPr sz="2400" spc="-10" dirty="0">
                <a:latin typeface="Calibri"/>
                <a:cs typeface="Calibri"/>
              </a:rPr>
              <a:t>pointer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declared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operator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::*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name.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0739" y="4212716"/>
            <a:ext cx="1678939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Ex:</a:t>
            </a:r>
            <a:r>
              <a:rPr sz="1600" spc="3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  <a:p>
            <a:pPr marL="33401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611505" marR="567055" indent="-13906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pri</a:t>
            </a:r>
            <a:r>
              <a:rPr sz="1600" spc="-30" dirty="0">
                <a:latin typeface="Calibri"/>
                <a:cs typeface="Calibri"/>
              </a:rPr>
              <a:t>v</a:t>
            </a:r>
            <a:r>
              <a:rPr sz="1600" spc="-15" dirty="0">
                <a:latin typeface="Calibri"/>
                <a:cs typeface="Calibri"/>
              </a:rPr>
              <a:t>at</a:t>
            </a:r>
            <a:r>
              <a:rPr sz="1600" spc="-5" dirty="0">
                <a:latin typeface="Calibri"/>
                <a:cs typeface="Calibri"/>
              </a:rPr>
              <a:t>e:  i</a:t>
            </a:r>
            <a:r>
              <a:rPr sz="1600" spc="-20" dirty="0">
                <a:latin typeface="Calibri"/>
                <a:cs typeface="Calibri"/>
              </a:rPr>
              <a:t>n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m;</a:t>
            </a:r>
            <a:endParaRPr sz="1600">
              <a:latin typeface="Calibri"/>
              <a:cs typeface="Calibri"/>
            </a:endParaRPr>
          </a:p>
          <a:p>
            <a:pPr marL="47307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public:</a:t>
            </a:r>
            <a:endParaRPr sz="1600">
              <a:latin typeface="Calibri"/>
              <a:cs typeface="Calibri"/>
            </a:endParaRPr>
          </a:p>
          <a:p>
            <a:pPr marL="611505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void</a:t>
            </a:r>
            <a:r>
              <a:rPr sz="1600" spc="3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show();</a:t>
            </a:r>
            <a:endParaRPr sz="1600">
              <a:latin typeface="Calibri"/>
              <a:cs typeface="Calibri"/>
            </a:endParaRPr>
          </a:p>
          <a:p>
            <a:pPr marL="427355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};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520039"/>
            <a:ext cx="7914640" cy="4526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46990" indent="-354965">
              <a:lnSpc>
                <a:spcPct val="12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Define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pointer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 m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follows: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::*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ip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 &amp;A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::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m;</a:t>
            </a:r>
            <a:endParaRPr sz="3200">
              <a:latin typeface="Calibri"/>
              <a:cs typeface="Calibri"/>
            </a:endParaRPr>
          </a:p>
          <a:p>
            <a:pPr marL="756285" marR="30416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ip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pointer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created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thus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acts </a:t>
            </a:r>
            <a:r>
              <a:rPr sz="2800" spc="-25" dirty="0">
                <a:latin typeface="Calibri"/>
                <a:cs typeface="Calibri"/>
              </a:rPr>
              <a:t>like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class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member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30" dirty="0">
                <a:latin typeface="Calibri"/>
                <a:cs typeface="Calibri"/>
              </a:rPr>
              <a:t>invoked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object.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A::*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means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“pointer-to-member”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class.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&amp;A::m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means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“address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member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class”.</a:t>
            </a:r>
            <a:endParaRPr sz="2800">
              <a:latin typeface="Calibri"/>
              <a:cs typeface="Calibri"/>
            </a:endParaRPr>
          </a:p>
          <a:p>
            <a:pPr marL="756285" marR="39687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ip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now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access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member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inside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member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261"/>
            <a:ext cx="7877175" cy="2563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673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dereferencing </a:t>
            </a:r>
            <a:r>
              <a:rPr sz="3200" spc="-20" dirty="0">
                <a:latin typeface="Calibri"/>
                <a:cs typeface="Calibri"/>
              </a:rPr>
              <a:t>operator </a:t>
            </a:r>
            <a:r>
              <a:rPr sz="3200" dirty="0">
                <a:latin typeface="Calibri"/>
                <a:cs typeface="Calibri"/>
              </a:rPr>
              <a:t>-&gt;* </a:t>
            </a:r>
            <a:r>
              <a:rPr sz="3200" spc="-10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used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access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member when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 </a:t>
            </a:r>
            <a:r>
              <a:rPr sz="3200" spc="-20" dirty="0">
                <a:latin typeface="Calibri"/>
                <a:cs typeface="Calibri"/>
              </a:rPr>
              <a:t>pointers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both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object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member.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dereferencing</a:t>
            </a:r>
            <a:r>
              <a:rPr sz="3200" spc="-20" dirty="0">
                <a:latin typeface="Calibri"/>
                <a:cs typeface="Calibri"/>
              </a:rPr>
              <a:t> operator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.*</a:t>
            </a:r>
            <a:r>
              <a:rPr sz="3200" dirty="0">
                <a:latin typeface="Calibri"/>
                <a:cs typeface="Calibri"/>
              </a:rPr>
              <a:t> is </a:t>
            </a:r>
            <a:r>
              <a:rPr sz="3200" spc="-5" dirty="0">
                <a:latin typeface="Calibri"/>
                <a:cs typeface="Calibri"/>
              </a:rPr>
              <a:t>used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when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object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itself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used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member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pointer.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926" y="461899"/>
            <a:ext cx="1945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000000"/>
                </a:solidFill>
              </a:rPr>
              <a:t>E</a:t>
            </a:r>
            <a:r>
              <a:rPr spc="-85"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000000"/>
                </a:solidFill>
              </a:rPr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476502"/>
            <a:ext cx="3707765" cy="4896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 MT"/>
                <a:cs typeface="Arial MT"/>
              </a:rPr>
              <a:t>#include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&lt;iostream&gt;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namespace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std;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class</a:t>
            </a:r>
            <a:r>
              <a:rPr sz="1600" spc="-9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X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public: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int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a;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void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f(int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b)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cout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&lt;&lt;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"The value of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 is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"&lt;&lt;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b &lt;&lt;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endl;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15" dirty="0">
                <a:latin typeface="Arial MT"/>
                <a:cs typeface="Arial MT"/>
              </a:rPr>
              <a:t>};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int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main()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{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//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declare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pointer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data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member</a:t>
            </a:r>
            <a:endParaRPr sz="1600">
              <a:latin typeface="Arial MT"/>
              <a:cs typeface="Arial MT"/>
            </a:endParaRPr>
          </a:p>
          <a:p>
            <a:pPr marL="68580">
              <a:lnSpc>
                <a:spcPct val="100000"/>
              </a:lnSpc>
            </a:pPr>
            <a:r>
              <a:rPr sz="1600" spc="-5" dirty="0">
                <a:latin typeface="Arial MT"/>
                <a:cs typeface="Arial MT"/>
              </a:rPr>
              <a:t>int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X::*ptiptr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=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&amp;X::a;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750">
              <a:latin typeface="Arial MT"/>
              <a:cs typeface="Arial MT"/>
            </a:endParaRPr>
          </a:p>
          <a:p>
            <a:pPr marL="68580" marR="148590">
              <a:lnSpc>
                <a:spcPts val="1870"/>
              </a:lnSpc>
            </a:pPr>
            <a:r>
              <a:rPr sz="1600" spc="-5" dirty="0">
                <a:latin typeface="Arial MT"/>
                <a:cs typeface="Arial MT"/>
              </a:rPr>
              <a:t>//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declare a pointer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member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function </a:t>
            </a:r>
            <a:r>
              <a:rPr sz="1600" spc="-4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void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(X::*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ptfptr)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(int)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=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&amp;X::f;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5175" y="1542034"/>
            <a:ext cx="3124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//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create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5" dirty="0">
                <a:latin typeface="Calibri"/>
                <a:cs typeface="Calibri"/>
              </a:rPr>
              <a:t> object of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 </a:t>
            </a:r>
            <a:r>
              <a:rPr sz="1800" dirty="0">
                <a:latin typeface="Calibri"/>
                <a:cs typeface="Calibri"/>
              </a:rPr>
              <a:t>type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6990" y="2091054"/>
            <a:ext cx="934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X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xobject;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5175" y="2639695"/>
            <a:ext cx="4428490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2047239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//</a:t>
            </a:r>
            <a:r>
              <a:rPr sz="1800" spc="-10" dirty="0">
                <a:latin typeface="Calibri"/>
                <a:cs typeface="Calibri"/>
              </a:rPr>
              <a:t> initialize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xobject.*ptiptr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cout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&lt;&lt;</a:t>
            </a:r>
            <a:r>
              <a:rPr sz="1800" dirty="0">
                <a:latin typeface="Calibri"/>
                <a:cs typeface="Calibri"/>
              </a:rPr>
              <a:t> "The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value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 "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&lt;&lt;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xobject.*ptiptr&lt;&lt;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endl;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Calibri"/>
              <a:cs typeface="Calibri"/>
            </a:endParaRPr>
          </a:p>
          <a:p>
            <a:pPr marL="12700" marR="219583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//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(xobject.*ptfptr)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(20);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627634"/>
            <a:ext cx="322834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1602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#include&lt;iostream&gt; </a:t>
            </a:r>
            <a:r>
              <a:rPr sz="1800" spc="-5" dirty="0">
                <a:latin typeface="Calibri"/>
                <a:cs typeface="Calibri"/>
              </a:rPr>
              <a:t> using namespace </a:t>
            </a:r>
            <a:r>
              <a:rPr sz="1800" spc="-15" dirty="0">
                <a:latin typeface="Calibri"/>
                <a:cs typeface="Calibri"/>
              </a:rPr>
              <a:t>std;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 </a:t>
            </a:r>
            <a:r>
              <a:rPr sz="1800" dirty="0">
                <a:latin typeface="Calibri"/>
                <a:cs typeface="Calibri"/>
              </a:rPr>
              <a:t>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2700" marR="258572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int x;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 </a:t>
            </a:r>
            <a:r>
              <a:rPr sz="1800" dirty="0">
                <a:latin typeface="Calibri"/>
                <a:cs typeface="Calibri"/>
              </a:rPr>
              <a:t>y;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bl</a:t>
            </a:r>
            <a:r>
              <a:rPr sz="1800" spc="-10" dirty="0">
                <a:latin typeface="Calibri"/>
                <a:cs typeface="Calibri"/>
              </a:rPr>
              <a:t>ic</a:t>
            </a:r>
            <a:r>
              <a:rPr sz="180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void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set_xy(int </a:t>
            </a:r>
            <a:r>
              <a:rPr sz="1800" dirty="0">
                <a:latin typeface="Calibri"/>
                <a:cs typeface="Calibri"/>
              </a:rPr>
              <a:t>a,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</a:t>
            </a:r>
            <a:r>
              <a:rPr sz="1800" spc="-5" dirty="0">
                <a:latin typeface="Calibri"/>
                <a:cs typeface="Calibri"/>
              </a:rPr>
              <a:t> b)</a:t>
            </a:r>
            <a:endParaRPr sz="1800">
              <a:latin typeface="Calibri"/>
              <a:cs typeface="Calibri"/>
            </a:endParaRPr>
          </a:p>
          <a:p>
            <a:pPr marL="12700" marR="1276350">
              <a:lnSpc>
                <a:spcPct val="100000"/>
              </a:lnSpc>
              <a:tabLst>
                <a:tab pos="240665" algn="l"/>
                <a:tab pos="781050" algn="l"/>
                <a:tab pos="1390015" algn="l"/>
              </a:tabLst>
            </a:pPr>
            <a:r>
              <a:rPr sz="1800" dirty="0">
                <a:latin typeface="Calibri"/>
                <a:cs typeface="Calibri"/>
              </a:rPr>
              <a:t>{	</a:t>
            </a:r>
            <a:r>
              <a:rPr sz="1800" spc="-5" dirty="0">
                <a:latin typeface="Calibri"/>
                <a:cs typeface="Calibri"/>
              </a:rPr>
              <a:t>x=a;	</a:t>
            </a:r>
            <a:r>
              <a:rPr sz="1800" dirty="0">
                <a:latin typeface="Calibri"/>
                <a:cs typeface="Calibri"/>
              </a:rPr>
              <a:t>y=b;	}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friend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sum(M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};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int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sum(M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//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declare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pointer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</a:t>
            </a:r>
            <a:r>
              <a:rPr sz="1800" spc="-15" dirty="0">
                <a:latin typeface="Calibri"/>
                <a:cs typeface="Calibri"/>
              </a:rPr>
              <a:t>data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</a:t>
            </a:r>
            <a:r>
              <a:rPr sz="1800" dirty="0">
                <a:latin typeface="Calibri"/>
                <a:cs typeface="Calibri"/>
              </a:rPr>
              <a:t> 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px</a:t>
            </a:r>
            <a:r>
              <a:rPr sz="1800" spc="-5" dirty="0">
                <a:latin typeface="Calibri"/>
                <a:cs typeface="Calibri"/>
              </a:rPr>
              <a:t> =&amp;M </a:t>
            </a:r>
            <a:r>
              <a:rPr sz="1800" dirty="0">
                <a:latin typeface="Calibri"/>
                <a:cs typeface="Calibri"/>
              </a:rPr>
              <a:t>:: </a:t>
            </a:r>
            <a:r>
              <a:rPr sz="1800" spc="-5" dirty="0">
                <a:latin typeface="Calibri"/>
                <a:cs typeface="Calibri"/>
              </a:rPr>
              <a:t>x;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int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*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py =&amp;M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::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*pm=&amp;m;</a:t>
            </a:r>
            <a:endParaRPr sz="1800">
              <a:latin typeface="Calibri"/>
              <a:cs typeface="Calibri"/>
            </a:endParaRPr>
          </a:p>
          <a:p>
            <a:pPr marL="12700" marR="90995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int </a:t>
            </a:r>
            <a:r>
              <a:rPr sz="1800" dirty="0">
                <a:latin typeface="Calibri"/>
                <a:cs typeface="Calibri"/>
              </a:rPr>
              <a:t>S = </a:t>
            </a:r>
            <a:r>
              <a:rPr sz="1800" spc="-10" dirty="0">
                <a:latin typeface="Calibri"/>
                <a:cs typeface="Calibri"/>
              </a:rPr>
              <a:t>m.*px </a:t>
            </a:r>
            <a:r>
              <a:rPr sz="1800" dirty="0">
                <a:latin typeface="Calibri"/>
                <a:cs typeface="Calibri"/>
              </a:rPr>
              <a:t>+ </a:t>
            </a:r>
            <a:r>
              <a:rPr sz="1800" spc="-5" dirty="0">
                <a:latin typeface="Calibri"/>
                <a:cs typeface="Calibri"/>
              </a:rPr>
              <a:t>pm-&gt;*py;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return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7575" y="703834"/>
            <a:ext cx="35394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int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n;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//declare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pointer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void </a:t>
            </a:r>
            <a:r>
              <a:rPr sz="1800" spc="-5" dirty="0">
                <a:latin typeface="Calibri"/>
                <a:cs typeface="Calibri"/>
              </a:rPr>
              <a:t>(M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:: </a:t>
            </a:r>
            <a:r>
              <a:rPr sz="1800" spc="-5" dirty="0">
                <a:latin typeface="Calibri"/>
                <a:cs typeface="Calibri"/>
              </a:rPr>
              <a:t>*pf)(int,int)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&amp;M</a:t>
            </a:r>
            <a:r>
              <a:rPr sz="1800" dirty="0">
                <a:latin typeface="Calibri"/>
                <a:cs typeface="Calibri"/>
              </a:rPr>
              <a:t> ::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set_xy;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7575" y="2350134"/>
            <a:ext cx="24631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987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//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(n.*pf)(10,20);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cout&lt;&lt;“SUM=“&lt;&lt;sum(n)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27575" y="3447110"/>
            <a:ext cx="23583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*op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&amp;n;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(op-&gt;*pf)(30,40);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cout&lt;&lt;“SUM=“&lt;&lt;sum(n);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7575" y="4544948"/>
            <a:ext cx="841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return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761" y="500253"/>
            <a:ext cx="21621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this</a:t>
            </a:r>
            <a:r>
              <a:rPr sz="3600" spc="-90" dirty="0">
                <a:solidFill>
                  <a:srgbClr val="000000"/>
                </a:solidFill>
              </a:rPr>
              <a:t> </a:t>
            </a:r>
            <a:r>
              <a:rPr sz="3600" spc="-15" dirty="0">
                <a:solidFill>
                  <a:srgbClr val="000000"/>
                </a:solidFill>
              </a:rPr>
              <a:t>pointer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308861"/>
            <a:ext cx="7843520" cy="3976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Every </a:t>
            </a:r>
            <a:r>
              <a:rPr sz="2400" dirty="0">
                <a:latin typeface="Calibri"/>
                <a:cs typeface="Calibri"/>
              </a:rPr>
              <a:t>object in </a:t>
            </a:r>
            <a:r>
              <a:rPr sz="2400" spc="5" dirty="0">
                <a:latin typeface="Calibri"/>
                <a:cs typeface="Calibri"/>
              </a:rPr>
              <a:t>C++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access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its </a:t>
            </a:r>
            <a:r>
              <a:rPr sz="2400" spc="-10" dirty="0">
                <a:latin typeface="Calibri"/>
                <a:cs typeface="Calibri"/>
              </a:rPr>
              <a:t>own </a:t>
            </a:r>
            <a:r>
              <a:rPr sz="2400" spc="-5" dirty="0">
                <a:latin typeface="Calibri"/>
                <a:cs typeface="Calibri"/>
              </a:rPr>
              <a:t>address </a:t>
            </a:r>
            <a:r>
              <a:rPr sz="2400" spc="-10" dirty="0">
                <a:latin typeface="Calibri"/>
                <a:cs typeface="Calibri"/>
              </a:rPr>
              <a:t>through </a:t>
            </a:r>
            <a:r>
              <a:rPr sz="2400" dirty="0">
                <a:latin typeface="Calibri"/>
                <a:cs typeface="Calibri"/>
              </a:rPr>
              <a:t>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important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called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this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pointer.</a:t>
            </a:r>
            <a:endParaRPr sz="2400">
              <a:latin typeface="Calibri"/>
              <a:cs typeface="Calibri"/>
            </a:endParaRPr>
          </a:p>
          <a:p>
            <a:pPr marL="355600" marR="63500" indent="-342900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b="1" spc="-5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pointer </a:t>
            </a:r>
            <a:r>
              <a:rPr sz="2400" dirty="0">
                <a:latin typeface="Calibri"/>
                <a:cs typeface="Calibri"/>
              </a:rPr>
              <a:t>is an implicit </a:t>
            </a:r>
            <a:r>
              <a:rPr sz="2400" spc="-10" dirty="0">
                <a:latin typeface="Calibri"/>
                <a:cs typeface="Calibri"/>
              </a:rPr>
              <a:t>parameter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member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functions.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Therefore,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inside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member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may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spc="-10" dirty="0">
                <a:latin typeface="Calibri"/>
                <a:cs typeface="Calibri"/>
              </a:rPr>
              <a:t> 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refer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invoking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object.</a:t>
            </a:r>
            <a:endParaRPr sz="2400">
              <a:latin typeface="Calibri"/>
              <a:cs typeface="Calibri"/>
            </a:endParaRPr>
          </a:p>
          <a:p>
            <a:pPr marL="355600" marR="143510" indent="-34290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Friend </a:t>
            </a:r>
            <a:r>
              <a:rPr sz="2400" spc="-5" dirty="0">
                <a:latin typeface="Calibri"/>
                <a:cs typeface="Calibri"/>
              </a:rPr>
              <a:t>functions do not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b="1" spc="-5" dirty="0">
                <a:latin typeface="Calibri"/>
                <a:cs typeface="Calibri"/>
              </a:rPr>
              <a:t>this </a:t>
            </a:r>
            <a:r>
              <a:rPr sz="2400" spc="-35" dirty="0">
                <a:latin typeface="Calibri"/>
                <a:cs typeface="Calibri"/>
              </a:rPr>
              <a:t>pointer, </a:t>
            </a:r>
            <a:r>
              <a:rPr sz="2400" spc="-5" dirty="0">
                <a:latin typeface="Calibri"/>
                <a:cs typeface="Calibri"/>
              </a:rPr>
              <a:t>because friends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not members of </a:t>
            </a:r>
            <a:r>
              <a:rPr sz="2400" dirty="0">
                <a:latin typeface="Calibri"/>
                <a:cs typeface="Calibri"/>
              </a:rPr>
              <a:t>a class. </a:t>
            </a:r>
            <a:r>
              <a:rPr sz="2400" spc="-5" dirty="0">
                <a:latin typeface="Calibri"/>
                <a:cs typeface="Calibri"/>
              </a:rPr>
              <a:t>Only </a:t>
            </a:r>
            <a:r>
              <a:rPr sz="2400" dirty="0">
                <a:latin typeface="Calibri"/>
                <a:cs typeface="Calibri"/>
              </a:rPr>
              <a:t>member </a:t>
            </a:r>
            <a:r>
              <a:rPr sz="2400" spc="-5" dirty="0">
                <a:latin typeface="Calibri"/>
                <a:cs typeface="Calibri"/>
              </a:rPr>
              <a:t>functions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pointer.</a:t>
            </a:r>
            <a:endParaRPr sz="240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4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cannot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declare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make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assignments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it.</a:t>
            </a:r>
            <a:endParaRPr sz="240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static </a:t>
            </a:r>
            <a:r>
              <a:rPr sz="2400" dirty="0">
                <a:latin typeface="Calibri"/>
                <a:cs typeface="Calibri"/>
              </a:rPr>
              <a:t>member</a:t>
            </a:r>
            <a:r>
              <a:rPr sz="2400" spc="-5" dirty="0">
                <a:latin typeface="Calibri"/>
                <a:cs typeface="Calibri"/>
              </a:rPr>
              <a:t> function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does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pointer.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8926" y="461899"/>
            <a:ext cx="19450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solidFill>
                  <a:srgbClr val="000000"/>
                </a:solidFill>
              </a:rPr>
              <a:t>E</a:t>
            </a:r>
            <a:r>
              <a:rPr spc="-85" dirty="0">
                <a:solidFill>
                  <a:srgbClr val="000000"/>
                </a:solidFill>
              </a:rPr>
              <a:t>x</a:t>
            </a:r>
            <a:r>
              <a:rPr dirty="0">
                <a:solidFill>
                  <a:srgbClr val="000000"/>
                </a:solidFill>
              </a:rPr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694434"/>
            <a:ext cx="4301490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8917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#include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&lt;iostream&gt; </a:t>
            </a:r>
            <a:r>
              <a:rPr sz="1800" spc="-5" dirty="0">
                <a:latin typeface="Calibri"/>
                <a:cs typeface="Calibri"/>
              </a:rPr>
              <a:t> using namespace </a:t>
            </a:r>
            <a:r>
              <a:rPr sz="1800" spc="-20" dirty="0">
                <a:latin typeface="Calibri"/>
                <a:cs typeface="Calibri"/>
              </a:rPr>
              <a:t>std;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 </a:t>
            </a:r>
            <a:r>
              <a:rPr sz="1800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5" dirty="0">
                <a:latin typeface="Calibri"/>
                <a:cs typeface="Calibri"/>
              </a:rPr>
              <a:t>private:</a:t>
            </a:r>
            <a:endParaRPr sz="1800">
              <a:latin typeface="Calibri"/>
              <a:cs typeface="Calibri"/>
            </a:endParaRPr>
          </a:p>
          <a:p>
            <a:pPr marL="64135" marR="360743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int </a:t>
            </a:r>
            <a:r>
              <a:rPr sz="1800" dirty="0">
                <a:latin typeface="Calibri"/>
                <a:cs typeface="Calibri"/>
              </a:rPr>
              <a:t>a;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bl</a:t>
            </a:r>
            <a:r>
              <a:rPr sz="1800" spc="-10" dirty="0">
                <a:latin typeface="Calibri"/>
                <a:cs typeface="Calibri"/>
              </a:rPr>
              <a:t>ic</a:t>
            </a:r>
            <a:r>
              <a:rPr sz="180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void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Set_a(int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a)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//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'this'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pointer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 used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 retrieve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'xobj.a'</a:t>
            </a:r>
            <a:endParaRPr sz="1800">
              <a:latin typeface="Calibri"/>
              <a:cs typeface="Calibri"/>
            </a:endParaRPr>
          </a:p>
          <a:p>
            <a:pPr marL="12700" marR="71945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// hidden by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5" dirty="0">
                <a:latin typeface="Calibri"/>
                <a:cs typeface="Calibri"/>
              </a:rPr>
              <a:t>automatic variable </a:t>
            </a:r>
            <a:r>
              <a:rPr sz="1800" dirty="0">
                <a:latin typeface="Calibri"/>
                <a:cs typeface="Calibri"/>
              </a:rPr>
              <a:t>'a'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this-&gt;a </a:t>
            </a:r>
            <a:r>
              <a:rPr sz="1800" dirty="0">
                <a:latin typeface="Calibri"/>
                <a:cs typeface="Calibri"/>
              </a:rPr>
              <a:t>= a;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8428" y="1694434"/>
            <a:ext cx="2526030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void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Print_a()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cout</a:t>
            </a:r>
            <a:r>
              <a:rPr sz="1800" spc="-5" dirty="0">
                <a:latin typeface="Calibri"/>
                <a:cs typeface="Calibri"/>
              </a:rPr>
              <a:t> &lt;&lt;</a:t>
            </a:r>
            <a:r>
              <a:rPr sz="1800" dirty="0">
                <a:latin typeface="Calibri"/>
                <a:cs typeface="Calibri"/>
              </a:rPr>
              <a:t> "a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"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&lt;&lt;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&lt;&lt;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endl;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};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int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main()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64135" marR="1647189" indent="-52069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X </a:t>
            </a:r>
            <a:r>
              <a:rPr sz="1800" spc="-15" dirty="0">
                <a:latin typeface="Calibri"/>
                <a:cs typeface="Calibri"/>
              </a:rPr>
              <a:t>xobj;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5;</a:t>
            </a:r>
            <a:endParaRPr sz="1800">
              <a:latin typeface="Calibri"/>
              <a:cs typeface="Calibri"/>
            </a:endParaRPr>
          </a:p>
          <a:p>
            <a:pPr marL="12700" marR="119316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xobj.Set_a(a);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x</a:t>
            </a:r>
            <a:r>
              <a:rPr sz="1800" spc="-5" dirty="0">
                <a:latin typeface="Calibri"/>
                <a:cs typeface="Calibri"/>
              </a:rPr>
              <a:t>obj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15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t_a(</a:t>
            </a:r>
            <a:r>
              <a:rPr sz="1800" spc="-10" dirty="0">
                <a:latin typeface="Calibri"/>
                <a:cs typeface="Calibri"/>
              </a:rPr>
              <a:t>)</a:t>
            </a:r>
            <a:r>
              <a:rPr sz="1800" dirty="0">
                <a:latin typeface="Calibri"/>
                <a:cs typeface="Calibri"/>
              </a:rPr>
              <a:t>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8750" y="1600305"/>
            <a:ext cx="5705450" cy="2844368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800" spc="-5">
                <a:latin typeface="Calibri"/>
                <a:cs typeface="Calibri"/>
              </a:rPr>
              <a:t>this</a:t>
            </a:r>
            <a:r>
              <a:rPr sz="2800" spc="-35">
                <a:latin typeface="Calibri"/>
                <a:cs typeface="Calibri"/>
              </a:rPr>
              <a:t> </a:t>
            </a:r>
            <a:r>
              <a:rPr sz="2800" spc="-10" smtClean="0">
                <a:latin typeface="Calibri"/>
                <a:cs typeface="Calibri"/>
              </a:rPr>
              <a:t>pointer</a:t>
            </a:r>
            <a:endParaRPr lang="en-GB" sz="2800" spc="-10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endParaRPr sz="2800">
              <a:latin typeface="Calibri"/>
              <a:cs typeface="Calibri"/>
            </a:endParaRPr>
          </a:p>
          <a:p>
            <a:pPr marL="335280" indent="-323215">
              <a:lnSpc>
                <a:spcPct val="100000"/>
              </a:lnSpc>
              <a:spcBef>
                <a:spcPts val="325"/>
              </a:spcBef>
              <a:buAutoNum type="alphaUcParenBoth"/>
              <a:tabLst>
                <a:tab pos="335915" algn="l"/>
              </a:tabLst>
            </a:pPr>
            <a:r>
              <a:rPr sz="2800" spc="-10" dirty="0">
                <a:latin typeface="Calibri"/>
                <a:cs typeface="Calibri"/>
              </a:rPr>
              <a:t>implicitly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points </a:t>
            </a:r>
            <a:r>
              <a:rPr sz="2800" spc="-1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object.</a:t>
            </a:r>
            <a:endParaRPr sz="2800">
              <a:latin typeface="Calibri"/>
              <a:cs typeface="Calibri"/>
            </a:endParaRPr>
          </a:p>
          <a:p>
            <a:pPr marL="327660" indent="-315595">
              <a:lnSpc>
                <a:spcPct val="100000"/>
              </a:lnSpc>
              <a:spcBef>
                <a:spcPts val="325"/>
              </a:spcBef>
              <a:buAutoNum type="alphaUcParenBoth"/>
              <a:tabLst>
                <a:tab pos="328295" algn="l"/>
              </a:tabLst>
            </a:pP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explicitly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</a:t>
            </a:r>
            <a:r>
              <a:rPr sz="2800" dirty="0">
                <a:latin typeface="Calibri"/>
                <a:cs typeface="Calibri"/>
              </a:rPr>
              <a:t> 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class.</a:t>
            </a:r>
            <a:endParaRPr sz="2800">
              <a:latin typeface="Calibri"/>
              <a:cs typeface="Calibri"/>
            </a:endParaRPr>
          </a:p>
          <a:p>
            <a:pPr marL="325755" indent="-313690">
              <a:lnSpc>
                <a:spcPct val="100000"/>
              </a:lnSpc>
              <a:spcBef>
                <a:spcPts val="325"/>
              </a:spcBef>
              <a:buAutoNum type="alphaUcParenBoth"/>
              <a:tabLst>
                <a:tab pos="326390" algn="l"/>
              </a:tabLst>
            </a:pP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object.</a:t>
            </a:r>
            <a:endParaRPr sz="2800">
              <a:latin typeface="Calibri"/>
              <a:cs typeface="Calibri"/>
            </a:endParaRPr>
          </a:p>
          <a:p>
            <a:pPr marL="346075" indent="-334010">
              <a:lnSpc>
                <a:spcPct val="100000"/>
              </a:lnSpc>
              <a:spcBef>
                <a:spcPts val="325"/>
              </a:spcBef>
              <a:buAutoNum type="alphaUcParenBoth"/>
              <a:tabLst>
                <a:tab pos="346710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above.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261"/>
            <a:ext cx="8034020" cy="3343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following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ways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legal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access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class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r>
              <a:rPr sz="3200" dirty="0">
                <a:latin typeface="Calibri"/>
                <a:cs typeface="Calibri"/>
              </a:rPr>
              <a:t> member </a:t>
            </a:r>
            <a:r>
              <a:rPr sz="3200" spc="-5" dirty="0">
                <a:latin typeface="Calibri"/>
                <a:cs typeface="Calibri"/>
              </a:rPr>
              <a:t>using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pointer?</a:t>
            </a:r>
            <a:endParaRPr sz="320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lphaUcParenBoth"/>
              <a:tabLst>
                <a:tab pos="528320" algn="l"/>
              </a:tabLst>
            </a:pPr>
            <a:r>
              <a:rPr sz="3200" spc="-5" dirty="0">
                <a:latin typeface="Calibri"/>
                <a:cs typeface="Calibri"/>
              </a:rPr>
              <a:t>this.x</a:t>
            </a:r>
            <a:endParaRPr sz="3200">
              <a:latin typeface="Calibri"/>
              <a:cs typeface="Calibri"/>
            </a:endParaRPr>
          </a:p>
          <a:p>
            <a:pPr marL="619125" indent="-607060">
              <a:lnSpc>
                <a:spcPct val="100000"/>
              </a:lnSpc>
              <a:spcBef>
                <a:spcPts val="770"/>
              </a:spcBef>
              <a:buAutoNum type="alphaUcParenBoth"/>
              <a:tabLst>
                <a:tab pos="619125" algn="l"/>
                <a:tab pos="619760" algn="l"/>
              </a:tabLst>
            </a:pPr>
            <a:r>
              <a:rPr sz="3200" spc="-5" dirty="0">
                <a:latin typeface="Calibri"/>
                <a:cs typeface="Calibri"/>
              </a:rPr>
              <a:t>*this.x</a:t>
            </a:r>
            <a:endParaRPr sz="3200">
              <a:latin typeface="Calibri"/>
              <a:cs typeface="Calibri"/>
            </a:endParaRPr>
          </a:p>
          <a:p>
            <a:pPr marL="569595" indent="-557530">
              <a:lnSpc>
                <a:spcPct val="100000"/>
              </a:lnSpc>
              <a:spcBef>
                <a:spcPts val="770"/>
              </a:spcBef>
              <a:buAutoNum type="alphaUcParenBoth"/>
              <a:tabLst>
                <a:tab pos="570230" algn="l"/>
              </a:tabLst>
            </a:pPr>
            <a:r>
              <a:rPr sz="3200" spc="-5" dirty="0">
                <a:latin typeface="Calibri"/>
                <a:cs typeface="Calibri"/>
              </a:rPr>
              <a:t>*(this.x)</a:t>
            </a:r>
            <a:endParaRPr sz="3200">
              <a:latin typeface="Calibri"/>
              <a:cs typeface="Calibri"/>
            </a:endParaRPr>
          </a:p>
          <a:p>
            <a:pPr marL="600710" indent="-588645">
              <a:lnSpc>
                <a:spcPct val="100000"/>
              </a:lnSpc>
              <a:spcBef>
                <a:spcPts val="765"/>
              </a:spcBef>
              <a:buAutoNum type="alphaUcParenBoth"/>
              <a:tabLst>
                <a:tab pos="601345" algn="l"/>
              </a:tabLst>
            </a:pPr>
            <a:r>
              <a:rPr sz="3200" spc="-5" dirty="0">
                <a:latin typeface="Calibri"/>
                <a:cs typeface="Calibri"/>
              </a:rPr>
              <a:t>(*this).x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922</Words>
  <Application>Microsoft Office PowerPoint</Application>
  <PresentationFormat>On-screen Show (4:3)</PresentationFormat>
  <Paragraphs>164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 MT</vt:lpstr>
      <vt:lpstr>Calibri</vt:lpstr>
      <vt:lpstr>Office Theme</vt:lpstr>
      <vt:lpstr>POINTERS</vt:lpstr>
      <vt:lpstr>Pointer within class</vt:lpstr>
      <vt:lpstr>Pointer to Objects</vt:lpstr>
      <vt:lpstr>Example</vt:lpstr>
      <vt:lpstr>Pointers to Members</vt:lpstr>
      <vt:lpstr>PowerPoint Presentation</vt:lpstr>
      <vt:lpstr>PowerPoint Presentation</vt:lpstr>
      <vt:lpstr>Example</vt:lpstr>
      <vt:lpstr>PowerPoint Presentation</vt:lpstr>
      <vt:lpstr>this pointer</vt:lpstr>
      <vt:lpstr>Example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krishan Bansal</cp:lastModifiedBy>
  <cp:revision>2</cp:revision>
  <dcterms:created xsi:type="dcterms:W3CDTF">2023-08-11T05:50:58Z</dcterms:created>
  <dcterms:modified xsi:type="dcterms:W3CDTF">2023-08-29T07:56:11Z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2023-08-11T00:00:00Z</vt:filetime>
  </property>
</Properties>
</file>