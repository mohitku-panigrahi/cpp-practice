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80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78" r:id="rId24"/>
    <p:sldId id="282" r:id="rId25"/>
    <p:sldId id="279" r:id="rId26"/>
    <p:sldId id="283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51375" y="1321053"/>
            <a:ext cx="3279140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22473" y="125983"/>
            <a:ext cx="4099052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0850" y="1649476"/>
            <a:ext cx="8020050" cy="395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30-Aug-23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2209800"/>
            <a:ext cx="31146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0" dirty="0"/>
              <a:t>C++</a:t>
            </a:r>
            <a:r>
              <a:rPr sz="6000" spc="-65" dirty="0"/>
              <a:t> </a:t>
            </a:r>
            <a:r>
              <a:rPr sz="6000" spc="-15" dirty="0"/>
              <a:t>string</a:t>
            </a:r>
            <a:endParaRPr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032" y="1043686"/>
            <a:ext cx="50755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/>
              <a:t>The</a:t>
            </a:r>
            <a:r>
              <a:rPr sz="4000" b="1" spc="-20" dirty="0"/>
              <a:t> </a:t>
            </a:r>
            <a:r>
              <a:rPr sz="4000" b="1" spc="-10" dirty="0">
                <a:solidFill>
                  <a:srgbClr val="3333CC"/>
                </a:solidFill>
              </a:rPr>
              <a:t>string</a:t>
            </a:r>
            <a:r>
              <a:rPr sz="4000" b="1" spc="5" dirty="0">
                <a:solidFill>
                  <a:srgbClr val="3333CC"/>
                </a:solidFill>
              </a:rPr>
              <a:t> </a:t>
            </a:r>
            <a:r>
              <a:rPr sz="4000" b="1" spc="-5" dirty="0"/>
              <a:t>Class </a:t>
            </a:r>
            <a:r>
              <a:rPr sz="4000" b="1" dirty="0"/>
              <a:t>in</a:t>
            </a:r>
            <a:r>
              <a:rPr sz="4000" b="1" spc="-10" dirty="0"/>
              <a:t> </a:t>
            </a:r>
            <a:r>
              <a:rPr sz="4000" b="1" spc="10"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048991"/>
            <a:ext cx="8382000" cy="226792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43815" indent="-3429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strings: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&lt;string&gt;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5880" indent="-3429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library,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b="1" spc="-3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</a:t>
            </a:r>
            <a:r>
              <a:rPr sz="2400" spc="-7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0699" y="838200"/>
            <a:ext cx="485394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15" dirty="0"/>
              <a:t>Declaration</a:t>
            </a:r>
            <a:r>
              <a:rPr sz="4000" b="1" spc="-25" dirty="0"/>
              <a:t> </a:t>
            </a:r>
            <a:r>
              <a:rPr sz="4000" b="1" spc="-5" dirty="0"/>
              <a:t>of </a:t>
            </a:r>
            <a:r>
              <a:rPr sz="4000" b="1" spc="-5" dirty="0">
                <a:solidFill>
                  <a:srgbClr val="3333CC"/>
                </a:solidFill>
              </a:rPr>
              <a:t>string</a:t>
            </a:r>
            <a:r>
              <a:rPr sz="4000" b="1"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889251"/>
            <a:ext cx="8305800" cy="395795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54965" marR="5080" indent="-342900">
              <a:lnSpc>
                <a:spcPct val="101499"/>
              </a:lnSpc>
              <a:spcBef>
                <a:spcPts val="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equivalent.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of type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string, </a:t>
            </a:r>
            <a:r>
              <a:rPr sz="2800" spc="-6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“high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school”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663440" algn="ctr">
              <a:lnSpc>
                <a:spcPct val="100000"/>
              </a:lnSpc>
              <a:spcBef>
                <a:spcPts val="1825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494915" algn="ctr">
              <a:lnSpc>
                <a:spcPct val="100000"/>
              </a:lnSpc>
              <a:spcBef>
                <a:spcPts val="700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s1=“high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school”;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472690" algn="ctr">
              <a:lnSpc>
                <a:spcPct val="100000"/>
              </a:lnSpc>
              <a:spcBef>
                <a:spcPts val="705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s2=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“high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school”;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513330" algn="ctr">
              <a:lnSpc>
                <a:spcPct val="100000"/>
              </a:lnSpc>
              <a:spcBef>
                <a:spcPts val="700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s3(“high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school”);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665" y="461899"/>
            <a:ext cx="229743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15" dirty="0"/>
              <a:t>Contd…….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4660" cy="32887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variables.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33045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sz="24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sz="2400" spc="-7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concatinate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with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Eg:-</a:t>
            </a:r>
            <a:r>
              <a:rPr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s3=s1+s2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51815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 </a:t>
            </a:r>
            <a:r>
              <a:rPr sz="2400" spc="-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38200"/>
            <a:ext cx="4874260" cy="663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5085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#include&lt;iostream&gt;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315085">
              <a:lnSpc>
                <a:spcPct val="120000"/>
              </a:lnSpc>
              <a:spcBef>
                <a:spcPts val="100"/>
              </a:spcBef>
            </a:pP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std; </a:t>
            </a:r>
            <a:endParaRPr lang="en-US" sz="2400" spc="-1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315085">
              <a:lnSpc>
                <a:spcPct val="120000"/>
              </a:lnSpc>
              <a:spcBef>
                <a:spcPts val="100"/>
              </a:spcBef>
            </a:pPr>
            <a:r>
              <a:rPr sz="2400" spc="-4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s1("man");</a:t>
            </a:r>
          </a:p>
          <a:p>
            <a:pPr marL="355600" marR="1719580">
              <a:lnSpc>
                <a:spcPct val="120000"/>
              </a:lnSpc>
              <a:spcBef>
                <a:spcPts val="5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s2=“hi"; </a:t>
            </a:r>
            <a:r>
              <a:rPr sz="2400" spc="-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44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719580">
              <a:lnSpc>
                <a:spcPct val="120000"/>
              </a:lnSpc>
              <a:spcBef>
                <a:spcPts val="5"/>
              </a:spcBef>
            </a:pP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s3;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719580">
              <a:lnSpc>
                <a:spcPct val="120000"/>
              </a:lnSpc>
              <a:spcBef>
                <a:spcPts val="5"/>
              </a:spcBef>
            </a:pP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s3=s1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cout&lt;&lt;"s3="&lt;&lt;s3&lt;&lt;endl;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71805">
              <a:lnSpc>
                <a:spcPct val="120000"/>
              </a:lnSpc>
            </a:pP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="neither " +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"nor"; </a:t>
            </a:r>
            <a:r>
              <a:rPr sz="2400" spc="-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44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471805">
              <a:lnSpc>
                <a:spcPct val="120000"/>
              </a:lnSpc>
            </a:pP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s3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cout&lt;&lt;"s3="&lt;&lt;s3&lt;&lt;endl;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lnSpc>
                <a:spcPct val="100000"/>
              </a:lnSpc>
              <a:spcBef>
                <a:spcPts val="484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s1.swap(s2);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>
              <a:lnSpc>
                <a:spcPct val="12000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cout&lt;&lt;s1&lt;&lt;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"nor"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&lt;&lt;s2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&lt;&lt;endl; </a:t>
            </a:r>
            <a:r>
              <a:rPr sz="2400" spc="-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5638800" y="3733800"/>
            <a:ext cx="2743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Output:</a:t>
            </a:r>
          </a:p>
          <a:p>
            <a:r>
              <a:rPr lang="en-US" dirty="0" smtClean="0"/>
              <a:t>s3=man</a:t>
            </a:r>
          </a:p>
          <a:p>
            <a:r>
              <a:rPr lang="en-US" dirty="0" smtClean="0"/>
              <a:t>s3=neither </a:t>
            </a:r>
            <a:r>
              <a:rPr lang="en-US" dirty="0" err="1" smtClean="0"/>
              <a:t>mannorhi</a:t>
            </a:r>
            <a:endParaRPr lang="en-US" dirty="0" smtClean="0"/>
          </a:p>
          <a:p>
            <a:r>
              <a:rPr lang="en-US" dirty="0" err="1" smtClean="0"/>
              <a:t>hinorman</a:t>
            </a:r>
            <a:endParaRPr lang="en-US" dirty="0"/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3423665" y="425034"/>
            <a:ext cx="229743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 sz="4000" b="1" kern="0" spc="-15" dirty="0">
                <a:solidFill>
                  <a:sysClr val="windowText" lastClr="000000"/>
                </a:solidFill>
              </a:rPr>
              <a:t>P</a:t>
            </a:r>
            <a:r>
              <a:rPr lang="en-US" sz="4000" b="1" kern="0" spc="-15" dirty="0" smtClean="0">
                <a:solidFill>
                  <a:sysClr val="windowText" lastClr="000000"/>
                </a:solidFill>
              </a:rPr>
              <a:t>rogram </a:t>
            </a:r>
            <a:endParaRPr lang="en-US" sz="4000" b="1" kern="0" spc="-15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9413" y="461899"/>
            <a:ext cx="634047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5" dirty="0"/>
              <a:t>Manipulating</a:t>
            </a:r>
            <a:r>
              <a:rPr sz="4000" b="1" spc="-15" dirty="0"/>
              <a:t> </a:t>
            </a:r>
            <a:r>
              <a:rPr sz="4000" b="1" spc="-5" dirty="0"/>
              <a:t>String</a:t>
            </a:r>
            <a:r>
              <a:rPr sz="4000" b="1" spc="-15" dirty="0"/>
              <a:t> </a:t>
            </a:r>
            <a:r>
              <a:rPr sz="4000" b="1" spc="-5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207327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erase()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</a:t>
            </a: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9413" y="461899"/>
            <a:ext cx="634047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5" dirty="0"/>
              <a:t>Manipulating</a:t>
            </a:r>
            <a:r>
              <a:rPr sz="4000" b="1" spc="-15" dirty="0"/>
              <a:t> </a:t>
            </a:r>
            <a:r>
              <a:rPr sz="4000" b="1" spc="-5" dirty="0"/>
              <a:t>String</a:t>
            </a:r>
            <a:r>
              <a:rPr sz="4000" b="1" spc="-15" dirty="0"/>
              <a:t> </a:t>
            </a:r>
            <a:r>
              <a:rPr sz="4000" b="1" spc="-5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9941"/>
            <a:ext cx="8303260" cy="4853892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s1(“12345”);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  <a:tab pos="355600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s2(“abcde”);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770"/>
              </a:spcBef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s1.insert(4,</a:t>
            </a:r>
            <a:r>
              <a:rPr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sz="3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</a:t>
            </a:r>
            <a:r>
              <a:rPr lang="en-US"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1234abcde5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355600" algn="l"/>
                <a:tab pos="3670300" algn="l"/>
              </a:tabLst>
            </a:pP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s1.erase(4,</a:t>
            </a:r>
            <a:r>
              <a:rPr lang="pt-BR" sz="3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5);	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3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12345</a:t>
            </a:r>
            <a:endParaRPr 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  <a:tab pos="355600" algn="l"/>
              </a:tabLst>
            </a:pPr>
            <a:r>
              <a:rPr lang="pt-BR" sz="32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s2.replace(1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3,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s1);</a:t>
            </a:r>
            <a:r>
              <a:rPr lang="pt-BR" sz="3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a12345e</a:t>
            </a:r>
          </a:p>
          <a:p>
            <a:pPr marL="12700">
              <a:lnSpc>
                <a:spcPct val="100000"/>
              </a:lnSpc>
              <a:tabLst>
                <a:tab pos="354965" algn="l"/>
                <a:tab pos="355600" algn="l"/>
              </a:tabLst>
            </a:pPr>
            <a:r>
              <a:rPr lang="en-US" dirty="0"/>
              <a:t>Replaces </a:t>
            </a:r>
            <a:r>
              <a:rPr lang="en-US" dirty="0" smtClean="0"/>
              <a:t>3 </a:t>
            </a:r>
            <a:r>
              <a:rPr lang="en-US" dirty="0"/>
              <a:t>characters from </a:t>
            </a:r>
            <a:r>
              <a:rPr lang="en-US" dirty="0" smtClean="0"/>
              <a:t>1th </a:t>
            </a:r>
            <a:r>
              <a:rPr lang="en-US" dirty="0"/>
              <a:t>index by </a:t>
            </a:r>
            <a:r>
              <a:rPr lang="en-US" dirty="0" smtClean="0"/>
              <a:t>s1</a:t>
            </a:r>
            <a:endParaRPr 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  <a:tab pos="355600" algn="l"/>
                <a:tab pos="4066540" algn="l"/>
              </a:tabLst>
            </a:pPr>
            <a:r>
              <a:rPr lang="pt-BR"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s2.append(s1,2,3);	</a:t>
            </a:r>
            <a:r>
              <a:rPr lang="pt-BR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//s2=a12345e345</a:t>
            </a:r>
            <a:endParaRPr 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524000"/>
            <a:ext cx="3883660" cy="4781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s1("12345");  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s2("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abcde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s1.append(s2);  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&lt;&lt;s1&lt;&lt;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s1.append(s2,1,2);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&lt;&lt;s1;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0810" y="202386"/>
            <a:ext cx="3806825" cy="77681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>
              <a:lnSpc>
                <a:spcPct val="120000"/>
              </a:lnSpc>
              <a:spcBef>
                <a:spcPts val="5"/>
              </a:spcBef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s1("12345");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s2("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"); 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&lt;&lt;s1&lt;&lt;" "&lt;&lt;s2&lt;&lt;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s1.insert(4, s2);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&lt;&lt;s1&lt;&lt;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s1.erase(4, 5);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&lt;&lt;s1&lt;&lt;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s2.replace(1, 3, s1); 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&lt;&lt;s2&lt;&lt;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0673" y="457200"/>
            <a:ext cx="21121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kern="0" spc="-15" dirty="0" smtClean="0">
                <a:solidFill>
                  <a:sysClr val="windowText" lastClr="000000"/>
                </a:solidFill>
              </a:rPr>
              <a:t>Program 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3604" y="461899"/>
            <a:ext cx="479171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5" dirty="0"/>
              <a:t>String</a:t>
            </a:r>
            <a:r>
              <a:rPr sz="4000" b="1" spc="-20" dirty="0"/>
              <a:t> </a:t>
            </a:r>
            <a:r>
              <a:rPr sz="4000" b="1" spc="-15" dirty="0"/>
              <a:t>Characteristics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34200"/>
              </p:ext>
            </p:extLst>
          </p:nvPr>
        </p:nvGraphicFramePr>
        <p:xfrm>
          <a:off x="603250" y="1589150"/>
          <a:ext cx="7848600" cy="3890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size()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elements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currently</a:t>
                      </a:r>
                      <a:r>
                        <a:rPr sz="18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length()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elements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currently</a:t>
                      </a:r>
                      <a:r>
                        <a:rPr sz="18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7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max_size()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25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string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that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sz="1800" spc="-3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can</a:t>
                      </a:r>
                      <a:r>
                        <a:rPr sz="18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64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empty()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778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sz="18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or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if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 </a:t>
                      </a:r>
                      <a:r>
                        <a:rPr sz="1800" spc="-3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otherwise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7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swap()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swap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string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850" y="1649476"/>
            <a:ext cx="8020050" cy="443198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="welcome";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"Size =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"Length =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str.length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"Max Size =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str.max_size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"Empty:	"&lt;&lt;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? "yes" : "no")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2187459" y="409945"/>
            <a:ext cx="47917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000" b="1" kern="0" spc="-5" dirty="0" smtClean="0"/>
              <a:t>String</a:t>
            </a:r>
            <a:r>
              <a:rPr lang="en-US" sz="4000" b="1" kern="0" spc="-20" dirty="0" smtClean="0"/>
              <a:t> </a:t>
            </a:r>
            <a:r>
              <a:rPr lang="en-US" sz="4000" b="1" kern="0" spc="-15" dirty="0" smtClean="0"/>
              <a:t>Characteristics</a:t>
            </a:r>
            <a:endParaRPr lang="en-US" sz="4000" b="1" kern="0" spc="-15" dirty="0"/>
          </a:p>
        </p:txBody>
      </p:sp>
    </p:spTree>
    <p:extLst>
      <p:ext uri="{BB962C8B-B14F-4D97-AF65-F5344CB8AC3E}">
        <p14:creationId xmlns:p14="http://schemas.microsoft.com/office/powerpoint/2010/main" val="261912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828800"/>
            <a:ext cx="7541260" cy="4488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=“This is 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programming";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"bytes = " &lt;&lt;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)&lt;&lt;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"Size = "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str.size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"Length = "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str.length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"Max Size = "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str.max_size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"Empty: "&lt;&lt; 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str.empty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? "yes" : "no") &lt;&lt;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2208240" y="409945"/>
            <a:ext cx="47917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000" b="1" kern="0" spc="-5" dirty="0" smtClean="0"/>
              <a:t>String</a:t>
            </a:r>
            <a:r>
              <a:rPr lang="en-US" sz="4000" b="1" kern="0" spc="-20" dirty="0" smtClean="0"/>
              <a:t> </a:t>
            </a:r>
            <a:r>
              <a:rPr lang="en-US" sz="4000" b="1" kern="0" spc="-15" dirty="0" smtClean="0"/>
              <a:t>Characteristics</a:t>
            </a:r>
            <a:endParaRPr lang="en-US" sz="4000" b="1" kern="0" spc="-1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686460"/>
            <a:ext cx="8227061" cy="547662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s1(“ABC”);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s2(“XYZ”);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(s2);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s2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20000"/>
              </a:lnSpc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sz="2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spc="-5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20000"/>
              </a:lnSpc>
            </a:pPr>
            <a:r>
              <a:rPr sz="20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compare(int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start_1,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length_1,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s_2,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start_2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length_2)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s1,</a:t>
            </a:r>
            <a:r>
              <a:rPr sz="2400" spc="-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s1.compare(0,</a:t>
            </a:r>
            <a:r>
              <a:rPr sz="24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s2,</a:t>
            </a: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2);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57778" y="57657"/>
            <a:ext cx="202692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40" dirty="0"/>
              <a:t>c</a:t>
            </a:r>
            <a:r>
              <a:rPr sz="4000" b="1" spc="-5" dirty="0"/>
              <a:t>ompa</a:t>
            </a:r>
            <a:r>
              <a:rPr sz="4000" b="1" spc="-50" dirty="0"/>
              <a:t>r</a:t>
            </a:r>
            <a:r>
              <a:rPr sz="4000" b="1" dirty="0"/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95757"/>
            <a:ext cx="195897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778509"/>
            <a:ext cx="3982720" cy="485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064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#include&lt;iostream&gt;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std; </a:t>
            </a:r>
            <a:r>
              <a:rPr sz="2400" spc="-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16535" marR="1010919">
              <a:lnSpc>
                <a:spcPct val="120000"/>
              </a:lnSpc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s1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"bcme";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"abcrome";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6535" marR="5080" algn="just">
              <a:lnSpc>
                <a:spcPct val="120000"/>
              </a:lnSpc>
            </a:pPr>
            <a:r>
              <a:rPr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cout&lt;&lt;s1.compare(s2)&lt;&lt;endl;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cout&lt;&lt;s1.compare(2,2,s2,5,2); </a:t>
            </a:r>
            <a:r>
              <a:rPr sz="2400" spc="-5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957268"/>
            <a:ext cx="6477000" cy="5363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str1="welcome";  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str2="</a:t>
            </a: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welldone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  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x=str1.compare(str2);  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if(x==0)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&lt;&lt;"Strings are same";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&lt;&lt;"Strings are different";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400" spc="-1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&lt;&lt;str1.compare(0,3,str2,0,3);</a:t>
            </a:r>
          </a:p>
          <a:p>
            <a:pPr marL="12700">
              <a:spcBef>
                <a:spcPts val="100"/>
              </a:spcBef>
            </a:pPr>
            <a:r>
              <a:rPr lang="en-US"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0" y="228600"/>
            <a:ext cx="197207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25" dirty="0" smtClean="0"/>
              <a:t>Program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90600" y="1165086"/>
            <a:ext cx="7467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 ()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("green apple");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("red apple");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(str1.compare(str2) != 0)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str1 &lt;&lt; " is not " &lt;&lt; str2 &lt;&lt; '\n';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(str1.compare(6,5,"apple") == 0)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"still, " &lt;&lt; str1 &lt;&lt; " is an apple\n";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(str1.compare(6,5,str2,4,5) == 0)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"therefore, both are apples\n";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96924" y="457200"/>
            <a:ext cx="197207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-25" dirty="0" smtClean="0"/>
              <a:t>Program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9398" y="461899"/>
            <a:ext cx="69869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/>
              <a:t>Accessing</a:t>
            </a:r>
            <a:r>
              <a:rPr sz="4000" b="1" spc="-20" dirty="0"/>
              <a:t> Characters</a:t>
            </a:r>
            <a:r>
              <a:rPr sz="4000" b="1" spc="-25" dirty="0"/>
              <a:t> </a:t>
            </a:r>
            <a:r>
              <a:rPr sz="4000" b="1" dirty="0"/>
              <a:t>in</a:t>
            </a:r>
            <a:r>
              <a:rPr sz="4000" b="1" spc="-10" dirty="0"/>
              <a:t> </a:t>
            </a:r>
            <a:r>
              <a:rPr sz="4000" b="1" spc="-5" dirty="0"/>
              <a:t>Strings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72447"/>
              </p:ext>
            </p:extLst>
          </p:nvPr>
        </p:nvGraphicFramePr>
        <p:xfrm>
          <a:off x="450850" y="1649476"/>
          <a:ext cx="8001000" cy="39491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586"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Task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at()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accessing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</a:t>
                      </a:r>
                      <a:r>
                        <a:rPr sz="20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characters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substr()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retrieving</a:t>
                      </a:r>
                      <a:r>
                        <a:rPr sz="20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substring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marL="91440" marR="9975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find()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rf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sz="20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  <a:r>
                        <a:rPr sz="20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substring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  <a:r>
                        <a:rPr sz="20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specific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substring</a:t>
                      </a:r>
                      <a:r>
                        <a:rPr sz="200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9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find_first_of()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7409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finding</a:t>
                      </a:r>
                      <a:r>
                        <a:rPr sz="20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r>
                        <a:rPr sz="20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</a:t>
                      </a: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r>
                        <a:rPr sz="20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occurrence</a:t>
                      </a:r>
                      <a:r>
                        <a:rPr sz="20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20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</a:t>
                      </a:r>
                      <a:r>
                        <a:rPr sz="2000" spc="-3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character(s)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find_last_of()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  <a:r>
                        <a:rPr sz="20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r>
                        <a:rPr sz="20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last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occurrence</a:t>
                      </a:r>
                      <a:r>
                        <a:rPr sz="200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20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character(s)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getline()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taking</a:t>
                      </a:r>
                      <a:r>
                        <a:rPr sz="20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sz="20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  <a:r>
                        <a:rPr sz="20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from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r>
                        <a:rPr sz="20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1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</a:t>
                      </a:r>
                      <a:r>
                        <a:rPr lang="en-US" sz="2000" spc="-1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000" spc="-1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</a:t>
                      </a:r>
                      <a:r>
                        <a:rPr sz="2000" spc="5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</a:t>
                      </a:r>
                      <a:r>
                        <a:rPr sz="20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2473" y="125983"/>
            <a:ext cx="409905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/>
              <a:t>find()</a:t>
            </a:r>
            <a:r>
              <a:rPr sz="4000" b="1" spc="-30" dirty="0"/>
              <a:t> </a:t>
            </a:r>
            <a:r>
              <a:rPr sz="4000" b="1" dirty="0"/>
              <a:t>and</a:t>
            </a:r>
            <a:r>
              <a:rPr sz="4000" b="1" spc="-20" dirty="0"/>
              <a:t> </a:t>
            </a:r>
            <a:r>
              <a:rPr sz="4000" b="1" spc="-10" dirty="0"/>
              <a:t>substr()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68653"/>
            <a:ext cx="3974465" cy="40882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#include&lt;iostream&gt;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std;</a:t>
            </a:r>
          </a:p>
          <a:p>
            <a:pPr marL="12700">
              <a:lnSpc>
                <a:spcPct val="100000"/>
              </a:lnSpc>
            </a:pPr>
            <a:r>
              <a:rPr sz="2400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400" spc="-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65430" marR="50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z="240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sz="2400" spc="66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"arlcome"; </a:t>
            </a:r>
            <a:r>
              <a:rPr sz="240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solidFill>
                <a:srgbClr val="0F243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5430" marR="5080">
              <a:lnSpc>
                <a:spcPct val="100000"/>
              </a:lnSpc>
              <a:spcBef>
                <a:spcPts val="5"/>
              </a:spcBef>
            </a:pPr>
            <a:r>
              <a:rPr sz="2400" spc="-5" dirty="0" smtClean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2400"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sz="240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400"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"wearomea"; </a:t>
            </a:r>
            <a:r>
              <a:rPr sz="240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cout&lt;&lt;s1.find("lc")&lt;&lt;endl;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cout&lt;&lt;s2.rfind(“ea”)&lt;&lt;endl; </a:t>
            </a:r>
            <a:r>
              <a:rPr sz="2400" spc="-6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cout&lt;&lt;s2.find_last_of('e</a:t>
            </a:r>
            <a:r>
              <a:rPr sz="24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4651375" y="1321053"/>
            <a:ext cx="3279140" cy="3718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083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#include&lt;iostream&gt;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90830">
              <a:lnSpc>
                <a:spcPct val="100000"/>
              </a:lnSpc>
              <a:spcBef>
                <a:spcPts val="100"/>
              </a:spcBef>
            </a:pPr>
            <a:r>
              <a:rPr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pc="-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std;</a:t>
            </a:r>
          </a:p>
          <a:p>
            <a:pPr marL="12700">
              <a:lnSpc>
                <a:spcPct val="100000"/>
              </a:lnSpc>
            </a:pPr>
            <a:r>
              <a:rPr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12700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65430" marR="508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pc="-2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pc="-1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pc="-1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"welcome"; </a:t>
            </a:r>
            <a:r>
              <a:rPr spc="-650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s2; </a:t>
            </a:r>
            <a:r>
              <a:rPr spc="5" dirty="0">
                <a:solidFill>
                  <a:srgbClr val="0F24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s2=s1.substr(0,2); </a:t>
            </a:r>
            <a:r>
              <a:rPr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cout&lt;&lt;s2;</a:t>
            </a:r>
          </a:p>
          <a:p>
            <a:pPr marL="12700">
              <a:lnSpc>
                <a:spcPct val="100000"/>
              </a:lnSpc>
            </a:pP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215" y="1248070"/>
            <a:ext cx="6356985" cy="4955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 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 ()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("lovely professional university");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str1.find("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")&lt;&lt;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str1.rfind("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")&lt;&lt;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&lt;&lt;str1.find_first_of('l')&lt;&lt;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&lt;&lt;str1.find_last_of('l')&lt;&lt;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 marR="985519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3866784"/>
            <a:ext cx="48742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cs typeface="Calibri"/>
            </a:endParaRPr>
          </a:p>
          <a:p>
            <a:pPr marL="117475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526473"/>
            <a:ext cx="714785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spc="-5" dirty="0" err="1" smtClean="0"/>
              <a:t>rfind</a:t>
            </a:r>
            <a:r>
              <a:rPr lang="en-US" sz="4000" b="1" spc="-5" dirty="0" smtClean="0"/>
              <a:t>(), </a:t>
            </a:r>
            <a:r>
              <a:rPr lang="en-US" sz="4000" b="1" spc="-5" dirty="0" err="1" smtClean="0"/>
              <a:t>find_first_of,find_last_of</a:t>
            </a:r>
            <a:r>
              <a:rPr lang="en-US" sz="4000" b="1" spc="-30" dirty="0" smtClean="0"/>
              <a:t> 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2473" y="125983"/>
            <a:ext cx="409905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/>
              <a:t>find()</a:t>
            </a:r>
            <a:r>
              <a:rPr sz="4000" b="1" spc="-30" dirty="0"/>
              <a:t> </a:t>
            </a:r>
            <a:r>
              <a:rPr sz="4000" b="1" dirty="0"/>
              <a:t>and</a:t>
            </a:r>
            <a:r>
              <a:rPr sz="4000" b="1" spc="-20" dirty="0"/>
              <a:t> </a:t>
            </a:r>
            <a:r>
              <a:rPr sz="4000" b="1" spc="-10" dirty="0"/>
              <a:t>substr()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86459"/>
            <a:ext cx="6245860" cy="4809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()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str1 ("lovely professional university");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str2 ("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&lt;&lt;str1&lt;&lt;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=str1.find(str2);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&lt;&lt;x&lt;&lt;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temp = str1.substr(x + str2.size() , 30 );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&lt;&lt;temp&lt;&lt;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temp.find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(str2);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&lt;&lt;y;	//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&lt;&lt;y + x + str2.size();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329" y="461899"/>
            <a:ext cx="15767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35" dirty="0"/>
              <a:t>g</a:t>
            </a:r>
            <a:r>
              <a:rPr sz="4000" b="1" spc="-25" dirty="0"/>
              <a:t>e</a:t>
            </a:r>
            <a:r>
              <a:rPr sz="4000" b="1" dirty="0"/>
              <a:t>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79802"/>
            <a:ext cx="3002280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cout&lt;&lt;“Enter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string”;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getline(cin,s);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39" y="1676400"/>
            <a:ext cx="8212455" cy="3395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length()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size()?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55600">
              <a:lnSpc>
                <a:spcPct val="100000"/>
              </a:lnSpc>
              <a:spcBef>
                <a:spcPts val="1825"/>
              </a:spcBef>
              <a:buAutoNum type="alphaLcParenR"/>
              <a:tabLst>
                <a:tab pos="3683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4810" indent="-372745">
              <a:lnSpc>
                <a:spcPct val="100000"/>
              </a:lnSpc>
              <a:spcBef>
                <a:spcPts val="1445"/>
              </a:spcBef>
              <a:buAutoNum type="alphaLcParenR"/>
              <a:tabLst>
                <a:tab pos="38544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351155" indent="-339090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35179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same</a:t>
            </a:r>
          </a:p>
          <a:p>
            <a:pPr marL="367665" indent="-355600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3683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3783329" y="461899"/>
            <a:ext cx="15767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b="1" kern="0" spc="-35" dirty="0" smtClean="0">
                <a:solidFill>
                  <a:sysClr val="windowText" lastClr="000000"/>
                </a:solidFill>
              </a:rPr>
              <a:t>MCQ</a:t>
            </a:r>
            <a:endParaRPr lang="en-US" sz="4000" b="1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2473" y="125983"/>
            <a:ext cx="4099052" cy="615553"/>
          </a:xfrm>
        </p:spPr>
        <p:txBody>
          <a:bodyPr/>
          <a:lstStyle/>
          <a:p>
            <a:pPr algn="ctr"/>
            <a:r>
              <a:rPr lang="en-US" sz="4000" b="1" dirty="0" smtClean="0"/>
              <a:t>Solution</a:t>
            </a:r>
            <a:endParaRPr lang="en-US" sz="40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850" y="1649476"/>
            <a:ext cx="8020050" cy="372409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en-US"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en-US"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length()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en-US"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size()?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55600">
              <a:lnSpc>
                <a:spcPct val="100000"/>
              </a:lnSpc>
              <a:spcBef>
                <a:spcPts val="1825"/>
              </a:spcBef>
              <a:buAutoNum type="alphaLcParenR"/>
              <a:tabLst>
                <a:tab pos="368300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4810" indent="-372745">
              <a:lnSpc>
                <a:spcPct val="100000"/>
              </a:lnSpc>
              <a:spcBef>
                <a:spcPts val="1445"/>
              </a:spcBef>
              <a:buAutoNum type="alphaLcParenR"/>
              <a:tabLst>
                <a:tab pos="385445" algn="l"/>
              </a:tabLst>
            </a:pP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155" indent="-339090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351790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same</a:t>
            </a:r>
          </a:p>
          <a:p>
            <a:pPr marL="367665" indent="-355600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368300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2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524000"/>
            <a:ext cx="7212965" cy="52373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77130">
              <a:lnSpc>
                <a:spcPct val="120000"/>
              </a:lnSpc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&lt;iostream&gt;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namespace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std; </a:t>
            </a:r>
            <a:r>
              <a:rPr sz="2000" spc="-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indent="-457200">
              <a:lnSpc>
                <a:spcPct val="100000"/>
              </a:lnSpc>
              <a:spcBef>
                <a:spcPts val="580"/>
              </a:spcBef>
              <a:buFont typeface="+mj-lt"/>
              <a:buAutoNum type="alphaLcParenR"/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 ("The only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“);</a:t>
            </a:r>
            <a:r>
              <a:rPr lang="en-US"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("work“);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str1.find(str2); </a:t>
            </a:r>
            <a:r>
              <a:rPr lang="en-US" sz="2000" spc="-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3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spc="-43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spc="-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"\n";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 20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18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1800" spc="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18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3783329" y="461899"/>
            <a:ext cx="15767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b="1" kern="0" spc="-35" dirty="0" smtClean="0">
                <a:solidFill>
                  <a:sysClr val="windowText" lastClr="000000"/>
                </a:solidFill>
              </a:rPr>
              <a:t>MCQ</a:t>
            </a:r>
            <a:endParaRPr lang="en-US" sz="4000" b="1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524000"/>
            <a:ext cx="7212965" cy="52373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77130">
              <a:lnSpc>
                <a:spcPct val="120000"/>
              </a:lnSpc>
              <a:spcBef>
                <a:spcPts val="100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&lt;iostream&gt;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namespace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std; </a:t>
            </a:r>
            <a:r>
              <a:rPr sz="2000" spc="-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indent="-457200">
              <a:lnSpc>
                <a:spcPct val="100000"/>
              </a:lnSpc>
              <a:spcBef>
                <a:spcPts val="580"/>
              </a:spcBef>
              <a:buFont typeface="+mj-lt"/>
              <a:buAutoNum type="alphaLcParenR"/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 ("The only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“);</a:t>
            </a:r>
            <a:r>
              <a:rPr lang="en-US"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("work“);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</a:t>
            </a:r>
            <a:r>
              <a:rPr lang="en-US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en-US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str1.find(str2); </a:t>
            </a:r>
            <a:r>
              <a:rPr lang="en-US" sz="2000" spc="-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43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spc="-43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000" spc="-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en-US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"\n";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 20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18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1800" b="1" spc="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18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3783329" y="461899"/>
            <a:ext cx="200787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b="1" kern="0" spc="-35" dirty="0" smtClean="0">
                <a:solidFill>
                  <a:sysClr val="windowText" lastClr="000000"/>
                </a:solidFill>
              </a:rPr>
              <a:t>Solution </a:t>
            </a:r>
            <a:endParaRPr lang="en-US" sz="4000" b="1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04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066800"/>
            <a:ext cx="8358505" cy="405046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str1[]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{‘H’,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’e’,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’l’,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’l’,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’o’,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’\0’};</a:t>
            </a:r>
          </a:p>
          <a:p>
            <a:pPr marL="1329055" lvl="1" indent="-402590">
              <a:lnSpc>
                <a:spcPct val="100000"/>
              </a:lnSpc>
              <a:spcBef>
                <a:spcPts val="765"/>
              </a:spcBef>
              <a:buAutoNum type="arabicPeriod" startAt="2"/>
              <a:tabLst>
                <a:tab pos="13296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str2[]=“Hello”;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9690" lvl="1" indent="-403225">
              <a:lnSpc>
                <a:spcPct val="100000"/>
              </a:lnSpc>
              <a:spcBef>
                <a:spcPts val="775"/>
              </a:spcBef>
              <a:buAutoNum type="arabicPeriod" startAt="2"/>
              <a:tabLst>
                <a:tab pos="133032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str3(“hello”);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char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str3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str3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765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str1,str2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str3,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3783329" y="461899"/>
            <a:ext cx="15767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b="1" kern="0" spc="-35" dirty="0" smtClean="0">
                <a:solidFill>
                  <a:sysClr val="windowText" lastClr="000000"/>
                </a:solidFill>
              </a:rPr>
              <a:t>MCQ</a:t>
            </a:r>
            <a:endParaRPr lang="en-US" sz="4000" b="1" kern="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066800"/>
            <a:ext cx="8358505" cy="4050468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str1[]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{‘H’,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’e’,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’l’,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’l’,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’o’,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’\0’};</a:t>
            </a:r>
          </a:p>
          <a:p>
            <a:pPr marL="1329055" lvl="1" indent="-402590">
              <a:lnSpc>
                <a:spcPct val="100000"/>
              </a:lnSpc>
              <a:spcBef>
                <a:spcPts val="765"/>
              </a:spcBef>
              <a:buAutoNum type="arabicPeriod" startAt="2"/>
              <a:tabLst>
                <a:tab pos="132969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str2[]=“Hello”;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9690" lvl="1" indent="-403225">
              <a:lnSpc>
                <a:spcPct val="100000"/>
              </a:lnSpc>
              <a:spcBef>
                <a:spcPts val="775"/>
              </a:spcBef>
              <a:buAutoNum type="arabicPeriod" startAt="2"/>
              <a:tabLst>
                <a:tab pos="1330325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str3(“hello”);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char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str3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str3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765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str1,str2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str3,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lphaUcPeriod"/>
              <a:tabLst>
                <a:tab pos="527685" algn="l"/>
                <a:tab pos="52832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3783329" y="461899"/>
            <a:ext cx="208407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en-US" sz="4000" b="1" kern="0" spc="-35" dirty="0" smtClean="0">
                <a:solidFill>
                  <a:sysClr val="windowText" lastClr="000000"/>
                </a:solidFill>
              </a:rPr>
              <a:t>Solution</a:t>
            </a:r>
            <a:endParaRPr lang="en-US" sz="4000" b="1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47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1392</Words>
  <Application>Microsoft Office PowerPoint</Application>
  <PresentationFormat>On-screen Show (4:3)</PresentationFormat>
  <Paragraphs>270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 MT</vt:lpstr>
      <vt:lpstr>Calibri</vt:lpstr>
      <vt:lpstr>Times New Roman</vt:lpstr>
      <vt:lpstr>Office Theme</vt:lpstr>
      <vt:lpstr>C++ string</vt:lpstr>
      <vt:lpstr>The string Class in C++</vt:lpstr>
      <vt:lpstr>Declaration of strings</vt:lpstr>
      <vt:lpstr>Contd…….</vt:lpstr>
      <vt:lpstr>PowerPoint Presentation</vt:lpstr>
      <vt:lpstr>Manipulating String Objects</vt:lpstr>
      <vt:lpstr>Manipulating String Objects</vt:lpstr>
      <vt:lpstr>#include&lt;iostream&gt; #include&lt;string&gt; using namespace std;   int main() {     string s1("12345");       string s2("abcde");     s1.append(s2);       cout&lt;&lt;s1&lt;&lt;endl;     s1.append(s2,1,2);     cout&lt;&lt;s1;      }</vt:lpstr>
      <vt:lpstr>String Characteristics</vt:lpstr>
      <vt:lpstr>PowerPoint Presentation</vt:lpstr>
      <vt:lpstr>PowerPoint Presentation</vt:lpstr>
      <vt:lpstr>compare</vt:lpstr>
      <vt:lpstr>Program</vt:lpstr>
      <vt:lpstr>PowerPoint Presentation</vt:lpstr>
      <vt:lpstr>PowerPoint Presentation</vt:lpstr>
      <vt:lpstr>Accessing Characters in Strings</vt:lpstr>
      <vt:lpstr>find() and substr()</vt:lpstr>
      <vt:lpstr>PowerPoint Presentation</vt:lpstr>
      <vt:lpstr>find() and substr()</vt:lpstr>
      <vt:lpstr>getline</vt:lpstr>
      <vt:lpstr>PowerPoint Presentation</vt:lpstr>
      <vt:lpstr>Solution</vt:lpstr>
      <vt:lpstr>#include &lt;iostream&gt;  using namespace std;  int main()  { string str1 ("The only way to do great work is to love what you do“); string str2 ("work“); unsigned found = str1.find(str2);   cout &lt;&lt; found &lt;&lt; "\n"; }  a)  20 b) 23  c) 25 d) 21 </vt:lpstr>
      <vt:lpstr>#include &lt;iostream&gt;  using namespace std;  int main()  { string str1 ("The only way to do great work is to love what you do“); string str2 ("work“); unsigned found = str1.find(str2);   cout &lt;&lt; found &lt;&lt; "\n"; }  a)  20 b) 23  c) 25 d) 21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SUKHBIR GILL</dc:creator>
  <cp:lastModifiedBy>asus</cp:lastModifiedBy>
  <cp:revision>13</cp:revision>
  <dcterms:created xsi:type="dcterms:W3CDTF">2023-08-26T07:05:00Z</dcterms:created>
  <dcterms:modified xsi:type="dcterms:W3CDTF">2023-08-30T18:18:58Z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2023-08-26T00:00:00Z</vt:filetime>
  </property>
</Properties>
</file>